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37160" cy="32918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E5FF"/>
                </a:solidFill>
                <a:latin typeface="Trebuchet MS"/>
              </a:defRPr>
            </a:pPr>
            <a:r>
              <a:t>CYBERSTRIKE CTF 2026</a:t>
            </a:r>
          </a:p>
          <a:p>
            <a:pPr>
              <a:spcAft>
                <a:spcPts val="1200"/>
              </a:spcAft>
              <a:defRPr sz="3600" b="1">
                <a:solidFill>
                  <a:srgbClr val="F0F6FC"/>
                </a:solidFill>
                <a:latin typeface="Trebuchet MS"/>
              </a:defRPr>
            </a:pPr>
            <a:r>
              <a:t>KISI-KISI &amp; PANDUAN SILABUS KOMPETISI</a:t>
            </a:r>
          </a:p>
          <a:p>
            <a:pPr>
              <a:spcAft>
                <a:spcPts val="2000"/>
              </a:spcAft>
              <a:defRPr sz="1600">
                <a:solidFill>
                  <a:srgbClr val="8B949E"/>
                </a:solidFill>
                <a:latin typeface="Calibri"/>
              </a:defRPr>
            </a:pPr>
            <a:r>
              <a:t>Pedoman Materi, Arah Belajar &amp; Toolkit Investigasi (Panduan Konseptual Tanpa Bocoran / Zero-Spoiler)</a:t>
            </a:r>
          </a:p>
          <a:p>
            <a:pPr>
              <a:defRPr sz="1400" b="1">
                <a:solidFill>
                  <a:srgbClr val="00E699"/>
                </a:solidFill>
                <a:latin typeface="Calibri"/>
              </a:defRPr>
            </a:pPr>
            <a:r>
              <a:t>🎯 Web Exploitation  |  🔐 Cryptography  |  🔍 Digital Forensics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303520"/>
            <a:ext cx="9966960" cy="7772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B949E"/>
                </a:solidFill>
                <a:latin typeface="Calibri"/>
              </a:defRPr>
            </a:pPr>
            <a:r>
              <a:t>Catatan Resmi Panitia: Dokumen kisi-kisi ini berfokus pada fondasi teori, logika analitis, dan instrumen keamanan siber. Tidak ada jawaban instan maupun bocoran flag (CTF{...}). Kejujuran &amp; kemampuan pemecahan masalah mandiri adalah nilai utama kompetisi.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00E5FF"/>
                </a:solidFill>
                <a:latin typeface="Trebuchet MS"/>
              </a:defRPr>
            </a:pPr>
            <a:r>
              <a:t>PENDAHULUAN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Trebuchet MS"/>
              </a:defRPr>
            </a:pPr>
            <a:r>
              <a:t>Tujuan Pembelajaran &amp; Pola Pikir Kompetisi (Mindset)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6984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71216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E5FF"/>
                </a:solidFill>
                <a:latin typeface="Trebuchet MS"/>
              </a:defRPr>
            </a:pPr>
            <a:r>
              <a:t>💡 Filosofi Kompetisi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PRINSIP UTAMA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Bukan Tebak-Tebakan: </a:t>
            </a:r>
            <a:r>
              <a:rPr b="0" sz="1200">
                <a:solidFill>
                  <a:srgbClr val="8B949E"/>
                </a:solidFill>
                <a:latin typeface="Calibri"/>
              </a:rPr>
              <a:t>CTF dirancang dengan alur logika terstruktur. Semua teka-teki memiliki dasar ilmiah komputer yang jelas.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Simulasi Nyata: </a:t>
            </a:r>
            <a:r>
              <a:rPr b="0" sz="1200">
                <a:solidFill>
                  <a:srgbClr val="8B949E"/>
                </a:solidFill>
                <a:latin typeface="Calibri"/>
              </a:rPr>
              <a:t>Mengasah kemampuan audit keamanan web, analisis sandi, dan rekonstruksi barang bukti digital.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Kemandirian: </a:t>
            </a:r>
            <a:r>
              <a:rPr b="0" sz="1200">
                <a:solidFill>
                  <a:srgbClr val="8B949E"/>
                </a:solidFill>
                <a:latin typeface="Calibri"/>
              </a:rPr>
              <a:t>Peserta ditantang untuk mencari solusi melalui riset dokumentasi dan pemanfaatan alat investigasi.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71216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Trebuchet MS"/>
              </a:defRPr>
            </a:pPr>
            <a:r>
              <a:t>🧠 Pola Pikir Investigasi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METODOLOGI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Pahami Arsitektur: </a:t>
            </a:r>
            <a:r>
              <a:rPr b="0" sz="1200">
                <a:solidFill>
                  <a:srgbClr val="8B949E"/>
                </a:solidFill>
                <a:latin typeface="Calibri"/>
              </a:rPr>
              <a:t>Ketahui bagaimana suatu protokol atau struktur file bekerja normal sebelum mencari kelemahannya.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Observasi Anomali: </a:t>
            </a:r>
            <a:r>
              <a:rPr b="0" sz="1200">
                <a:solidFill>
                  <a:srgbClr val="8B949E"/>
                </a:solidFill>
                <a:latin typeface="Calibri"/>
              </a:rPr>
              <a:t>Perhatikan header tak lazim, ukuran berkas janggal, atau karakter teks yang berpola tertentu.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Riset &amp; Formulasi Hipotesis: </a:t>
            </a:r>
            <a:r>
              <a:rPr b="0" sz="1200">
                <a:solidFill>
                  <a:srgbClr val="8B949E"/>
                </a:solidFill>
                <a:latin typeface="Calibri"/>
              </a:rPr>
              <a:t>Buat hipotesis terukur (misal: 'Apakah ini format Base64?') lalu uji menggunakan alat yang sesuai.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828800"/>
            <a:ext cx="2871216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E699"/>
                </a:solidFill>
                <a:latin typeface="Trebuchet MS"/>
              </a:defRPr>
            </a:pPr>
            <a:r>
              <a:t>🚩 Aturan Format Jawaban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KETENTUAN RESMI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Format Standar: </a:t>
            </a:r>
            <a:r>
              <a:rPr b="0" sz="1200">
                <a:solidFill>
                  <a:srgbClr val="8B949E"/>
                </a:solidFill>
                <a:latin typeface="Calibri"/>
              </a:rPr>
              <a:t>Seluruh jawaban flag wajib diawali 'CTF{' dan diakhiri tanda kurung kurawal penutup '}'.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Sensitif Huruf: </a:t>
            </a:r>
            <a:r>
              <a:rPr b="0" sz="1200">
                <a:solidFill>
                  <a:srgbClr val="8B949E"/>
                </a:solidFill>
                <a:latin typeface="Calibri"/>
              </a:rPr>
              <a:t>Flag bersifat case-sensitive. Jangan menambahkan spasi kosong di awal ataupun di akhir.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Sistem Validasi: </a:t>
            </a:r>
            <a:r>
              <a:rPr b="0" sz="1200">
                <a:solidFill>
                  <a:srgbClr val="8B949E"/>
                </a:solidFill>
                <a:latin typeface="Calibri"/>
              </a:rPr>
              <a:t>Setiap penyerahan flag diverifikasi instan oleh server dengan perlindungan rate-limiting.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00E5FF"/>
                </a:solidFill>
                <a:latin typeface="Trebuchet MS"/>
              </a:defRPr>
            </a:pPr>
            <a:r>
              <a:t>STRUKTUR KOMPETISI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Trebuchet MS"/>
              </a:defRPr>
            </a:pPr>
            <a:r>
              <a:t>Struktur &amp; Distribusi 12 Tantangan CyberStrike CTF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6984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71216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E5FF"/>
                </a:solidFill>
                <a:latin typeface="Trebuchet MS"/>
              </a:defRPr>
            </a:pPr>
            <a:r>
              <a:t>🌐 Web Exploitation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4 SOAL | 700 POIN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Jumlah Soal: </a:t>
            </a:r>
            <a:r>
              <a:rPr b="0" sz="1200">
                <a:solidFill>
                  <a:srgbClr val="8B949E"/>
                </a:solidFill>
                <a:latin typeface="Calibri"/>
              </a:rPr>
              <a:t>4 Tantangan (Total 700 Poin)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Rentang Skor: </a:t>
            </a:r>
            <a:r>
              <a:rPr b="0" sz="1200">
                <a:solidFill>
                  <a:srgbClr val="8B949E"/>
                </a:solidFill>
                <a:latin typeface="Calibri"/>
              </a:rPr>
              <a:t>100, 150, 200, hingga 250 Poin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Tantangan 1 (100): </a:t>
            </a:r>
            <a:r>
              <a:rPr b="0" sz="1200">
                <a:solidFill>
                  <a:srgbClr val="8B949E"/>
                </a:solidFill>
                <a:latin typeface="Calibri"/>
              </a:rPr>
              <a:t>Inspeksi Header &amp; Komentar Klien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Tantangan 2 (150): </a:t>
            </a:r>
            <a:r>
              <a:rPr b="0" sz="1200">
                <a:solidFill>
                  <a:srgbClr val="8B949E"/>
                </a:solidFill>
                <a:latin typeface="Calibri"/>
              </a:rPr>
              <a:t>Direktif Robot &amp; Jalur Tersembunyi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Tantangan 3 (200): </a:t>
            </a:r>
            <a:r>
              <a:rPr b="0" sz="1200">
                <a:solidFill>
                  <a:srgbClr val="8B949E"/>
                </a:solidFill>
                <a:latin typeface="Calibri"/>
              </a:rPr>
              <a:t>Otorisasi &amp; Manipulasi Cookie Klien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Tantangan 4 (250): </a:t>
            </a:r>
            <a:r>
              <a:rPr b="0" sz="1200">
                <a:solidFill>
                  <a:srgbClr val="8B949E"/>
                </a:solidFill>
                <a:latin typeface="Calibri"/>
              </a:rPr>
              <a:t>Logika Otentikasi &amp; Query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71216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Trebuchet MS"/>
              </a:defRPr>
            </a:pPr>
            <a:r>
              <a:t>🔐 Cryptography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4 SOAL | 700 POIN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Jumlah Soal: </a:t>
            </a:r>
            <a:r>
              <a:rPr b="0" sz="1200">
                <a:solidFill>
                  <a:srgbClr val="8B949E"/>
                </a:solidFill>
                <a:latin typeface="Calibri"/>
              </a:rPr>
              <a:t>4 Tantangan (Total 700 Poin)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Rentang Skor: </a:t>
            </a:r>
            <a:r>
              <a:rPr b="0" sz="1200">
                <a:solidFill>
                  <a:srgbClr val="8B949E"/>
                </a:solidFill>
                <a:latin typeface="Calibri"/>
              </a:rPr>
              <a:t>100, 150, 200, hingga 250 Poin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Tantangan 1 (100): </a:t>
            </a:r>
            <a:r>
              <a:rPr b="0" sz="1200">
                <a:solidFill>
                  <a:srgbClr val="8B949E"/>
                </a:solidFill>
                <a:latin typeface="Calibri"/>
              </a:rPr>
              <a:t>Sandi Pergeseran Alfabet Romawi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Tantangan 2 (150): </a:t>
            </a:r>
            <a:r>
              <a:rPr b="0" sz="1200">
                <a:solidFill>
                  <a:srgbClr val="8B949E"/>
                </a:solidFill>
                <a:latin typeface="Calibri"/>
              </a:rPr>
              <a:t>Rantai Transformasi Encoding Bertingkat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Tantangan 3 (200): </a:t>
            </a:r>
            <a:r>
              <a:rPr b="0" sz="1200">
                <a:solidFill>
                  <a:srgbClr val="8B949E"/>
                </a:solidFill>
                <a:latin typeface="Calibri"/>
              </a:rPr>
              <a:t>Aljabar Bitwise XOR Ruang Kunci 8-bit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Tantangan 4 (250): </a:t>
            </a:r>
            <a:r>
              <a:rPr b="0" sz="1200">
                <a:solidFill>
                  <a:srgbClr val="8B949E"/>
                </a:solidFill>
                <a:latin typeface="Calibri"/>
              </a:rPr>
              <a:t>Sandi Substitusi Polialfabetik Vigenère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828800"/>
            <a:ext cx="2871216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E699"/>
                </a:solidFill>
                <a:latin typeface="Trebuchet MS"/>
              </a:defRPr>
            </a:pPr>
            <a:r>
              <a:t>🔍 Digital Forensics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4 SOAL | 700 POIN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Jumlah Soal: </a:t>
            </a:r>
            <a:r>
              <a:rPr b="0" sz="1200">
                <a:solidFill>
                  <a:srgbClr val="8B949E"/>
                </a:solidFill>
                <a:latin typeface="Calibri"/>
              </a:rPr>
              <a:t>4 Tantangan (Total 700 Poin)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Rentang Skor: </a:t>
            </a:r>
            <a:r>
              <a:rPr b="0" sz="1200">
                <a:solidFill>
                  <a:srgbClr val="8B949E"/>
                </a:solidFill>
                <a:latin typeface="Calibri"/>
              </a:rPr>
              <a:t>100, 150, 200, hingga 250 Poin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Tantangan 1 (100): </a:t>
            </a:r>
            <a:r>
              <a:rPr b="0" sz="1200">
                <a:solidFill>
                  <a:srgbClr val="8B949E"/>
                </a:solidFill>
                <a:latin typeface="Calibri"/>
              </a:rPr>
              <a:t>Eksplorasi Metadata Berkas Citra (EXIF)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Tantangan 2 (150): </a:t>
            </a:r>
            <a:r>
              <a:rPr b="0" sz="1200">
                <a:solidFill>
                  <a:srgbClr val="8B949E"/>
                </a:solidFill>
                <a:latin typeface="Calibri"/>
              </a:rPr>
              <a:t>Integritas Biner &amp; Perbaikan Magic Bytes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Tantangan 3 (200): </a:t>
            </a:r>
            <a:r>
              <a:rPr b="0" sz="1200">
                <a:solidFill>
                  <a:srgbClr val="8B949E"/>
                </a:solidFill>
                <a:latin typeface="Calibri"/>
              </a:rPr>
              <a:t>Steganografi Penanda Akhir Berkas (EOF)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Tantangan 4 (250): </a:t>
            </a:r>
            <a:r>
              <a:rPr b="0" sz="1200">
                <a:solidFill>
                  <a:srgbClr val="8B949E"/>
                </a:solidFill>
                <a:latin typeface="Calibri"/>
              </a:rPr>
              <a:t>Analisis Penyadapan Paket Lalu Lintas (PCAP)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00E5FF"/>
                </a:solidFill>
                <a:latin typeface="Trebuchet MS"/>
              </a:defRPr>
            </a:pPr>
            <a:r>
              <a:t>DOMAIN 1: WEB EXPLOITATION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Trebuchet MS"/>
              </a:defRPr>
            </a:pPr>
            <a:r>
              <a:t>Fondasi Arsitektur Web &amp; Vektor Analisis Klien-Server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6984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E5FF"/>
                </a:solidFill>
                <a:latin typeface="Trebuchet MS"/>
              </a:defRPr>
            </a:pPr>
            <a:r>
              <a:t>📡 Arsitektur Permintaan &amp; Respon HTTP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KOMUNIKASI KLIEN - SERVER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Siklus Request-Response: </a:t>
            </a:r>
            <a:r>
              <a:rPr b="0" sz="1200">
                <a:solidFill>
                  <a:srgbClr val="8B949E"/>
                </a:solidFill>
                <a:latin typeface="Calibri"/>
              </a:rPr>
              <a:t>Browser mengirim request (GET/POST) dan server merespon dengan status code, response headers, dan body payload.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Transmisi Header Kustom: </a:t>
            </a:r>
            <a:r>
              <a:rPr b="0" sz="1200">
                <a:solidFill>
                  <a:srgbClr val="8B949E"/>
                </a:solidFill>
                <a:latin typeface="Calibri"/>
              </a:rPr>
              <a:t>Header respon sering memuat metadata transmisi internal. Pengembang terkadang meletakkan informasi pengujian di custom headers (dimulai dengan 'X-').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Komentar Kode Sumber: </a:t>
            </a:r>
            <a:r>
              <a:rPr b="0" sz="1200">
                <a:solidFill>
                  <a:srgbClr val="8B949E"/>
                </a:solidFill>
                <a:latin typeface="Calibri"/>
              </a:rPr>
              <a:t>Inspeksi source code HTML, CSS, dan file JS klien sering kali mengungkap catatan internal, endpoint alternatif, atau pengingat teknis developer.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Perangkat Kunci: </a:t>
            </a:r>
            <a:r>
              <a:rPr b="0" sz="1200">
                <a:solidFill>
                  <a:srgbClr val="8B949E"/>
                </a:solidFill>
                <a:latin typeface="Calibri"/>
              </a:rPr>
              <a:t>Gunakan Browser Developer Tools (F12) tab Elements untuk struktur DOM dan tab Network untuk melihat header mentah.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Trebuchet MS"/>
              </a:defRPr>
            </a:pPr>
            <a:r>
              <a:t>🛡️ Kepercayaan Sisi Klien vs Sisi Server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LOGIKA OTORISASI &amp; AKSES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Prinsip 'Never Trust Client': </a:t>
            </a:r>
            <a:r>
              <a:rPr b="0" sz="1200">
                <a:solidFill>
                  <a:srgbClr val="8B949E"/>
                </a:solidFill>
                <a:latin typeface="Calibri"/>
              </a:rPr>
              <a:t>Aplikasi yang aman tidak pernah mempercayai data atau status hak akses yang dikirim dari browser tanpa validasi server.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Penyimpanan Sesi (Cookies): </a:t>
            </a:r>
            <a:r>
              <a:rPr b="0" sz="1200">
                <a:solidFill>
                  <a:srgbClr val="8B949E"/>
                </a:solidFill>
                <a:latin typeface="Calibri"/>
              </a:rPr>
              <a:t>Cookie disimpan di browser pengguna. Jika otorisasi peran (seperti admin/user) disimpan secara mentah di cookie, klien dapat memanipulasinya.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Mesin Perayap (Crawlers): </a:t>
            </a:r>
            <a:r>
              <a:rPr b="0" sz="1200">
                <a:solidFill>
                  <a:srgbClr val="8B949E"/>
                </a:solidFill>
                <a:latin typeface="Calibri"/>
              </a:rPr>
              <a:t>File robots.txt dibuat untuk memandu bot perayap mesin pencari, namun bersifat publik dan dapat dibaca oleh siapa pun.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Integritas Kueri: </a:t>
            </a:r>
            <a:r>
              <a:rPr b="0" sz="1200">
                <a:solidFill>
                  <a:srgbClr val="8B949E"/>
                </a:solidFill>
                <a:latin typeface="Calibri"/>
              </a:rPr>
              <a:t>Input pengguna pada formulir otentikasi harus divalidasi dan di-sanitize agar tidak merusak logika kueri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00E5FF"/>
                </a:solidFill>
                <a:latin typeface="Trebuchet MS"/>
              </a:defRPr>
            </a:pPr>
            <a:r>
              <a:t>WEB EXPLOITATION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Trebuchet MS"/>
              </a:defRPr>
            </a:pPr>
            <a:r>
              <a:t>Kisi-Kisi Topik 1 &amp; 2: Inspeksi Transmisi &amp; Direktif Robot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6984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E5FF"/>
                </a:solidFill>
                <a:latin typeface="Trebuchet MS"/>
              </a:defRPr>
            </a:pPr>
            <a:r>
              <a:t>🔍 Topik 1: Inspeksi Transmisi &amp; Header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TINGKAT DASAR | 100 POIN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Konsep yang Diuji: </a:t>
            </a:r>
            <a:r>
              <a:rPr b="0" sz="1200">
                <a:solidFill>
                  <a:srgbClr val="8B949E"/>
                </a:solidFill>
                <a:latin typeface="Calibri"/>
              </a:rPr>
              <a:t>Transmisi protokol HTTP tidak kasat mata pada tampilan visual web, serta komentar kode HTML/JS.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Kompetensi Peserta: </a:t>
            </a:r>
            <a:r>
              <a:rPr b="0" sz="1200">
                <a:solidFill>
                  <a:srgbClr val="8B949E"/>
                </a:solidFill>
                <a:latin typeface="Calibri"/>
              </a:rPr>
              <a:t>Mampu menginspeksi kode sumber halaman dan menganalisis seluruh atribut HTTP Response Header yang dikirim oleh web server.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Kata Kunci Penyelidikan: </a:t>
            </a:r>
            <a:r>
              <a:rPr b="0" sz="1200">
                <a:solidFill>
                  <a:srgbClr val="8B949E"/>
                </a:solidFill>
                <a:latin typeface="Calibri"/>
              </a:rPr>
              <a:t>HTTP Response Headers, Custom Header (X-...), HTML Comments (&lt;!-- ... --&gt;), Network Inspector.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Arah Belajar Mandiri: </a:t>
            </a:r>
            <a:r>
              <a:rPr b="0" sz="1200">
                <a:solidFill>
                  <a:srgbClr val="8B949E"/>
                </a:solidFill>
                <a:latin typeface="Calibri"/>
              </a:rPr>
              <a:t>Pelajari fungsi tab Network di DevTools browser, cara memfilter permintaan dokumen, dan memeriksa response headers.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E5FF"/>
                </a:solidFill>
                <a:latin typeface="Trebuchet MS"/>
              </a:defRPr>
            </a:pPr>
            <a:r>
              <a:t>🤖 Topik 2: Navigasi Crawler &amp; robots.txt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TINGKAT DASAR | 150 POIN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Konsep yang Diuji: </a:t>
            </a:r>
            <a:r>
              <a:rPr b="0" sz="1200">
                <a:solidFill>
                  <a:srgbClr val="8B949E"/>
                </a:solidFill>
                <a:latin typeface="Calibri"/>
              </a:rPr>
              <a:t>Protokol standar eksklusi mesin pencari (Robots Exclusion Standard) untuk membatasi perayapan bot.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Kompetensi Peserta: </a:t>
            </a:r>
            <a:r>
              <a:rPr b="0" sz="1200">
                <a:solidFill>
                  <a:srgbClr val="8B949E"/>
                </a:solidFill>
                <a:latin typeface="Calibri"/>
              </a:rPr>
              <a:t>Memahami bagaimana pengembang menyembunyikan jalur sistem menggunakan berkas konfigurasi publik robots.txt.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Kata Kunci Penyelidikan: </a:t>
            </a:r>
            <a:r>
              <a:rPr b="0" sz="1200">
                <a:solidFill>
                  <a:srgbClr val="8B949E"/>
                </a:solidFill>
                <a:latin typeface="Calibri"/>
              </a:rPr>
              <a:t>Robots.txt, User-agent directive, Disallow path, Hidden directories, Search indexing.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Arah Belajar Mandiri: </a:t>
            </a:r>
            <a:r>
              <a:rPr b="0" sz="1200">
                <a:solidFill>
                  <a:srgbClr val="8B949E"/>
                </a:solidFill>
                <a:latin typeface="Calibri"/>
              </a:rPr>
              <a:t>Pahami cara kerja web crawler Google/Bing, struktur sintaks direktif Disallow, dan navigasi URL endpoint tersembunyi.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00E5FF"/>
                </a:solidFill>
                <a:latin typeface="Trebuchet MS"/>
              </a:defRPr>
            </a:pPr>
            <a:r>
              <a:t>WEB EXPLOITATION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Trebuchet MS"/>
              </a:defRPr>
            </a:pPr>
            <a:r>
              <a:t>Kisi-Kisi Topik 3 &amp; 4: Manajemen Sesi &amp; Logika Otentikasi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6984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E5FF"/>
                </a:solidFill>
                <a:latin typeface="Trebuchet MS"/>
              </a:defRPr>
            </a:pPr>
            <a:r>
              <a:t>🍪 Topik 3: Otorisasi &amp; Manipulasi Cookie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TINGKAT MENENGAH | 200 POIN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Konsep yang Diuji: </a:t>
            </a:r>
            <a:r>
              <a:rPr b="0" sz="1200">
                <a:solidFill>
                  <a:srgbClr val="8B949E"/>
                </a:solidFill>
                <a:latin typeface="Calibri"/>
              </a:rPr>
              <a:t>Pengelolaan status sesi pengguna (state management) menggunakan HTTP Cookies tanpa tanda tangan kriptografi.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Kompetensi Peserta: </a:t>
            </a:r>
            <a:r>
              <a:rPr b="0" sz="1200">
                <a:solidFill>
                  <a:srgbClr val="8B949E"/>
                </a:solidFill>
                <a:latin typeface="Calibri"/>
              </a:rPr>
              <a:t>Mampu mengenali variabel kontrol hak akses pada penyimpanan lokal browser dan memodifikasi nilainya untuk meningkatkan level izin pengguna.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Kata Kunci Penyelidikan: </a:t>
            </a:r>
            <a:r>
              <a:rPr b="0" sz="1200">
                <a:solidFill>
                  <a:srgbClr val="8B949E"/>
                </a:solidFill>
                <a:latin typeface="Calibri"/>
              </a:rPr>
              <a:t>HTTP Cookie, Session Storage, Privilege Escalation, Client-Side State, DevTools Application Tab.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Arah Belajar Mandiri: </a:t>
            </a:r>
            <a:r>
              <a:rPr b="0" sz="1200">
                <a:solidFill>
                  <a:srgbClr val="8B949E"/>
                </a:solidFill>
                <a:latin typeface="Calibri"/>
              </a:rPr>
              <a:t>Pelajari pengelolaan cookie pada browser (F12 -&gt; Storage/Application -&gt; Cookies), cara mengubah value, dan me-refresh request.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E5FF"/>
                </a:solidFill>
                <a:latin typeface="Trebuchet MS"/>
              </a:defRPr>
            </a:pPr>
            <a:r>
              <a:t>💉 Topik 4: Logika Integritas Otentikasi (SQL)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TINGKAT MENENGAH | 250 POIN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Konsep yang Diuji: </a:t>
            </a:r>
            <a:r>
              <a:rPr b="0" sz="1200">
                <a:solidFill>
                  <a:srgbClr val="8B949E"/>
                </a:solidFill>
                <a:latin typeface="Calibri"/>
              </a:rPr>
              <a:t>Evaluasi logika aljabar boolean pada formulir login yang terhubung ke database relasional.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Kompetensi Peserta: </a:t>
            </a:r>
            <a:r>
              <a:rPr b="0" sz="1200">
                <a:solidFill>
                  <a:srgbClr val="8B949E"/>
                </a:solidFill>
                <a:latin typeface="Calibri"/>
              </a:rPr>
              <a:t>Menganalisis bagaimana karakter khusus input memanipulasi klausa WHERE pada kueri database sehingga selalu bernilai TRUE (tautology).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Kata Kunci Penyelidikan: </a:t>
            </a:r>
            <a:r>
              <a:rPr b="0" sz="1200">
                <a:solidFill>
                  <a:srgbClr val="8B949E"/>
                </a:solidFill>
                <a:latin typeface="Calibri"/>
              </a:rPr>
              <a:t>SQL Logic Evaluation, Boolean Tautology, Authentication Bypass, Dynamic String Concatenation.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Arah Belajar Mandiri: </a:t>
            </a:r>
            <a:r>
              <a:rPr b="0" sz="1200">
                <a:solidFill>
                  <a:srgbClr val="8B949E"/>
                </a:solidFill>
                <a:latin typeface="Calibri"/>
              </a:rPr>
              <a:t>Pahami tabel kebenaran logika OR ('TRUE OR FALSE = TRUE'), cara pembatas kutip string pada kueri SQL, dan komentar kueri.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A855F7"/>
                </a:solidFill>
                <a:latin typeface="Trebuchet MS"/>
              </a:defRPr>
            </a:pPr>
            <a:r>
              <a:t>DOMAIN 2: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Trebuchet MS"/>
              </a:defRPr>
            </a:pPr>
            <a:r>
              <a:t>Fondasi Kriptografi: Representasi Data vs Kriptosistem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6984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Trebuchet MS"/>
              </a:defRPr>
            </a:pPr>
            <a:r>
              <a:t>🔄 Encoding vs Enkripsi: Perbedaan Mendasar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FONDASI TEORITIS DATA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Encoding (Penyandian Format): </a:t>
            </a:r>
            <a:r>
              <a:rPr b="0" sz="1200">
                <a:solidFill>
                  <a:srgbClr val="8B949E"/>
                </a:solidFill>
                <a:latin typeface="Calibri"/>
              </a:rPr>
              <a:t>Mengubah representasi data ke format standar lain agar aman ditransmisikan. TIDAK membutuhkan kunci rahasia. Bersifat publik dan reversibel sepenuhnya.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Contoh Encoding Umum: </a:t>
            </a:r>
            <a:r>
              <a:rPr b="0" sz="1200">
                <a:solidFill>
                  <a:srgbClr val="8B949E"/>
                </a:solidFill>
                <a:latin typeface="Calibri"/>
              </a:rPr>
              <a:t>Biner (Base-2), Heksadesimal (Base-16), Base64 (A-Z, a-z, 0-9, +, /, =).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Enkripsi (Pengamanan Rahasia): </a:t>
            </a:r>
            <a:r>
              <a:rPr b="0" sz="1200">
                <a:solidFill>
                  <a:srgbClr val="8B949E"/>
                </a:solidFill>
                <a:latin typeface="Calibri"/>
              </a:rPr>
              <a:t>Mengacak data asli (plaintext) menjadi teks sandi (ciphertext) menggunakan kunci rahasia tertentu. Hanya pihak pemegang kunci yang dapat membacanya.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Kategori Kriptosistem: </a:t>
            </a:r>
            <a:r>
              <a:rPr b="0" sz="1200">
                <a:solidFill>
                  <a:srgbClr val="8B949E"/>
                </a:solidFill>
                <a:latin typeface="Calibri"/>
              </a:rPr>
              <a:t>Sandi klasik (substitusi/transposisi), operasi bitwise (XOR), dan sandi polialfabetik.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Trebuchet MS"/>
              </a:defRPr>
            </a:pPr>
            <a:r>
              <a:t>🧩 Karakteristik Ciphertext &amp; Pendekatan Analisis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METODE PEMECAHAN LOGIKA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Kenali Ciri Teks Sandi: </a:t>
            </a:r>
            <a:r>
              <a:rPr b="0" sz="1200">
                <a:solidFill>
                  <a:srgbClr val="8B949E"/>
                </a:solidFill>
                <a:latin typeface="Calibri"/>
              </a:rPr>
              <a:t>Teks sandi pergeseran huruf tetap mempertahankan struktur kata dan spasi. Teks heksadesimal hanya memuat karakter 0-9 dan A-F. Base64 sering diakhiri '='.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Analisis Simetri: </a:t>
            </a:r>
            <a:r>
              <a:rPr b="0" sz="1200">
                <a:solidFill>
                  <a:srgbClr val="8B949E"/>
                </a:solidFill>
                <a:latin typeface="Calibri"/>
              </a:rPr>
              <a:t>Operasi seperti ROT13 dan gerbang logika XOR memiliki sifat simetris (involutori), di mana fungsi dekripsinya identik dengan enkripsinya.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Ruang Kunci Terbatas: </a:t>
            </a:r>
            <a:r>
              <a:rPr b="0" sz="1200">
                <a:solidFill>
                  <a:srgbClr val="8B949E"/>
                </a:solidFill>
                <a:latin typeface="Calibri"/>
              </a:rPr>
              <a:t>Jika panjang kunci sandi sangat pendek (misal 1 byte = 256 variasi), seluruh kemungkinan dapat diuji dengan cepat menggunakan teknik brute force.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Alat Utama: </a:t>
            </a:r>
            <a:r>
              <a:rPr b="0" sz="1200">
                <a:solidFill>
                  <a:srgbClr val="8B949E"/>
                </a:solidFill>
                <a:latin typeface="Calibri"/>
              </a:rPr>
              <a:t>CyberChef (GCHQ Web Tool), Script Python, dan dcode.fr.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A855F7"/>
                </a:solidFill>
                <a:latin typeface="Trebuchet MS"/>
              </a:defRPr>
            </a:pPr>
            <a:r>
              <a:t>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Trebuchet MS"/>
              </a:defRPr>
            </a:pPr>
            <a:r>
              <a:t>Kisi-Kisi Topik 1 &amp; 2: Sandi Pergeseran &amp; Rantai Transformasi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6984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Trebuchet MS"/>
              </a:defRPr>
            </a:pPr>
            <a:r>
              <a:t>🏛️ Topik 1: Sandi Pergeseran Alfabet Klasik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TINGKAT DASAR | 100 POIN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Konsep yang Diuji: </a:t>
            </a:r>
            <a:r>
              <a:rPr b="0" sz="1200">
                <a:solidFill>
                  <a:srgbClr val="8B949E"/>
                </a:solidFill>
                <a:latin typeface="Calibri"/>
              </a:rPr>
              <a:t>Sandi substitusi monoalfabetik klasik berbasis aritmatika modulo 26 (Caesar Cipher / ROT13).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Kompetensi Peserta: </a:t>
            </a:r>
            <a:r>
              <a:rPr b="0" sz="1200">
                <a:solidFill>
                  <a:srgbClr val="8B949E"/>
                </a:solidFill>
                <a:latin typeface="Calibri"/>
              </a:rPr>
              <a:t>Mengenali teks teracak yang polanya mempertahankan panjang kata dan tanda baca asli, serta mengembalikan alfabet sejauh interval tetap.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Kata Kunci Penyelidikan: </a:t>
            </a:r>
            <a:r>
              <a:rPr b="0" sz="1200">
                <a:solidFill>
                  <a:srgbClr val="8B949E"/>
                </a:solidFill>
                <a:latin typeface="Calibri"/>
              </a:rPr>
              <a:t>Caesar Cipher, ROT13, Modulo 26, Monoalphabetic Substitution, Alphabet Shift.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Arah Belajar Mandiri: </a:t>
            </a:r>
            <a:r>
              <a:rPr b="0" sz="1200">
                <a:solidFill>
                  <a:srgbClr val="8B949E"/>
                </a:solidFill>
                <a:latin typeface="Calibri"/>
              </a:rPr>
              <a:t>Pelajari rumus pergeseran huruf C = (P + K) mod 26, sifat simetris pergeseran 13 huruf, dan penggunaan decoder ROT di CyberChef.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Trebuchet MS"/>
              </a:defRPr>
            </a:pPr>
            <a:r>
              <a:t>⛓️ Topik 2: Rantai Transformasi Multi-Format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TINGKAT DASAR | 150 POIN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Konsep yang Diuji: </a:t>
            </a:r>
            <a:r>
              <a:rPr b="0" sz="1200">
                <a:solidFill>
                  <a:srgbClr val="8B949E"/>
                </a:solidFill>
                <a:latin typeface="Calibri"/>
              </a:rPr>
              <a:t>Pipelined / Layered Encoding, di mana pesan ditransformasikan bertingkat melewati 3 format representasi data digital.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Kompetensi Peserta: </a:t>
            </a:r>
            <a:r>
              <a:rPr b="0" sz="1200">
                <a:solidFill>
                  <a:srgbClr val="8B949E"/>
                </a:solidFill>
                <a:latin typeface="Calibri"/>
              </a:rPr>
              <a:t>Mengidentifikasi pola biner 8-bit, mengonversinya ke deretan heksadesimal, dan men-decode string Base64 secara runtut terbalik.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Kata Kunci Penyelidikan: </a:t>
            </a:r>
            <a:r>
              <a:rPr b="0" sz="1200">
                <a:solidFill>
                  <a:srgbClr val="8B949E"/>
                </a:solidFill>
                <a:latin typeface="Calibri"/>
              </a:rPr>
              <a:t>Layered Encoding, Binary (Base-2), Hexadecimal (Base-16), Base64 Decoding, Sequential Reversal.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Arah Belajar Mandiri: </a:t>
            </a:r>
            <a:r>
              <a:rPr b="0" sz="1200">
                <a:solidFill>
                  <a:srgbClr val="8B949E"/>
                </a:solidFill>
                <a:latin typeface="Calibri"/>
              </a:rPr>
              <a:t>Pelajari konversi biner ke teks ASCII, fungsi tabel hex, pemetaan Base64, dan cara merangkai resep (recipe) di CyberChef.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A855F7"/>
                </a:solidFill>
                <a:latin typeface="Trebuchet MS"/>
              </a:defRPr>
            </a:pPr>
            <a:r>
              <a:t>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Trebuchet MS"/>
              </a:defRPr>
            </a:pPr>
            <a:r>
              <a:t>Kisi-Kisi Topik 3 &amp; 4: Aljabar XOR &amp; Sandi Polialfabetik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6984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Trebuchet MS"/>
              </a:defRPr>
            </a:pPr>
            <a:r>
              <a:t>⚡ Topik 3: Aljabar Bitwise XOR &amp; Ruang Kunci 8-Bit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TINGKAT MENENGAH | 200 POIN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Konsep yang Diuji: </a:t>
            </a:r>
            <a:r>
              <a:rPr b="0" sz="1200">
                <a:solidFill>
                  <a:srgbClr val="8B949E"/>
                </a:solidFill>
                <a:latin typeface="Calibri"/>
              </a:rPr>
              <a:t>Operasi logika Exclusive OR (XOR / ^) pada level bita biner dengan sifat matematis involutori (A ^ K ^ K = A).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Kompetensi Peserta: </a:t>
            </a:r>
            <a:r>
              <a:rPr b="0" sz="1200">
                <a:solidFill>
                  <a:srgbClr val="8B949E"/>
                </a:solidFill>
                <a:latin typeface="Calibri"/>
              </a:rPr>
              <a:t>Memahami enkripsi XOR bita tunggal dan mengeksplorasi seluruh ruang kemungkinan kunci 1-byte (0 hingga 255 variasi) untuk menemukan pesan bermakna.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Kata Kunci Penyelidikan: </a:t>
            </a:r>
            <a:r>
              <a:rPr b="0" sz="1200">
                <a:solidFill>
                  <a:srgbClr val="8B949E"/>
                </a:solidFill>
                <a:latin typeface="Calibri"/>
              </a:rPr>
              <a:t>Bitwise XOR, Single-Byte Key Space (256 variants), Brute Force Decryption, Involutory Property.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Arah Belajar Mandiri: </a:t>
            </a:r>
            <a:r>
              <a:rPr b="0" sz="1200">
                <a:solidFill>
                  <a:srgbClr val="8B949E"/>
                </a:solidFill>
                <a:latin typeface="Calibri"/>
              </a:rPr>
              <a:t>Pelajari tabel kebenaran gerbang XOR, operasi XOR byte per byte pada Python / CyberChef 'XOR Brute Force', dan pencarian pola flag.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Trebuchet MS"/>
              </a:defRPr>
            </a:pPr>
            <a:r>
              <a:t>📖 Topik 4: Sandi Polialfabetik Vigenère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TINGKAT MENENGAH | 250 POIN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Konsep yang Diuji: </a:t>
            </a:r>
            <a:r>
              <a:rPr b="0" sz="1200">
                <a:solidFill>
                  <a:srgbClr val="8B949E"/>
                </a:solidFill>
                <a:latin typeface="Calibri"/>
              </a:rPr>
              <a:t>Sandi substitusi polialfabetik yang menggunakan kata kunci berulang (repeating keystream) untuk mengubah pergeseran tiap huruf.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Kompetensi Peserta: </a:t>
            </a:r>
            <a:r>
              <a:rPr b="0" sz="1200">
                <a:solidFill>
                  <a:srgbClr val="8B949E"/>
                </a:solidFill>
                <a:latin typeface="Calibri"/>
              </a:rPr>
              <a:t>Mampu merekonstruksi pesan teks sandi dengan mencocokkan perpotongan koordinat huruf sandi dan huruf kunci pada matriks Tabula Recta.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Kata Kunci Penyelidikan: </a:t>
            </a:r>
            <a:r>
              <a:rPr b="0" sz="1200">
                <a:solidFill>
                  <a:srgbClr val="8B949E"/>
                </a:solidFill>
                <a:latin typeface="Calibri"/>
              </a:rPr>
              <a:t>Vigenère Cipher, Tabula Recta Matrix, Repeating Keystream, Polyalphabetic Mapping.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Arah Belajar Mandiri: </a:t>
            </a:r>
            <a:r>
              <a:rPr b="0" sz="1200">
                <a:solidFill>
                  <a:srgbClr val="8B949E"/>
                </a:solidFill>
                <a:latin typeface="Calibri"/>
              </a:rPr>
              <a:t>Pahami cara kerja tabel Vigenère, rumus matematis P = (C - K) mod 26, dan penggunaan decoder dengan kata kunci yang diketahui.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00E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00E699"/>
                </a:solidFill>
                <a:latin typeface="Trebuchet MS"/>
              </a:defRPr>
            </a:pPr>
            <a:r>
              <a:t>DOMAIN 3: DIGITAL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Trebuchet MS"/>
              </a:defRPr>
            </a:pPr>
            <a:r>
              <a:t>Fondasi Forensik Digital: Struktur Berkas Biner &amp; Transmisi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6984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E699"/>
                </a:solidFill>
                <a:latin typeface="Trebuchet MS"/>
              </a:defRPr>
            </a:pPr>
            <a:r>
              <a:t>🔬 Anatomi Berkas Digital &amp; Integritas Biner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STRUKTUR DATA FISIK BERKAS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Tanda Tangan Berkas (Magic Bytes): </a:t>
            </a:r>
            <a:r>
              <a:rPr b="0" sz="1200">
                <a:solidFill>
                  <a:srgbClr val="8B949E"/>
                </a:solidFill>
                <a:latin typeface="Calibri"/>
              </a:rPr>
              <a:t>Sistem operasi mengenali jenis berkas berdasarkan byte penanda awal (offset 0x00), bukan sekadar dari ekstensi nama file. Kerusakan pada header membuat berkas tidak dapat dibuka.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Metadata Tersembunyi (EXIF): </a:t>
            </a:r>
            <a:r>
              <a:rPr b="0" sz="1200">
                <a:solidFill>
                  <a:srgbClr val="8B949E"/>
                </a:solidFill>
                <a:latin typeface="Calibri"/>
              </a:rPr>
              <a:t>Berkas media sering menyimpan data pelengkap otomatis (lokasi, perangkat, waktu, serta tag komentar pengembang) di luar kanvas visual.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Batas Akhir Berkas (End of File / EOF): </a:t>
            </a:r>
            <a:r>
              <a:rPr b="0" sz="1200">
                <a:solidFill>
                  <a:srgbClr val="8B949E"/>
                </a:solidFill>
                <a:latin typeface="Calibri"/>
              </a:rPr>
              <a:t>Setiap format citra memiliki penanda penutup file baku. Segala data yang disematkan di balik batas EOF tidak akan dirender penampil gambar standar.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Prinsip Bukti Digital: </a:t>
            </a:r>
            <a:r>
              <a:rPr b="0" sz="1200">
                <a:solidFill>
                  <a:srgbClr val="8B949E"/>
                </a:solidFill>
                <a:latin typeface="Calibri"/>
              </a:rPr>
              <a:t>Integritas berkas asli harus dijaga. Bekerjalah pada salinan berkas bukti.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Trebuchet MS"/>
              </a:defRPr>
            </a:pPr>
            <a:r>
              <a:t>📡 Rekaman Penyadapan Jaringan (Network Traffic)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ANALISIS TRAFIK JARINGAN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Paket Transmisi Data (PCAP): </a:t>
            </a:r>
            <a:r>
              <a:rPr b="0" sz="1200">
                <a:solidFill>
                  <a:srgbClr val="8B949E"/>
                </a:solidFill>
                <a:latin typeface="Calibri"/>
              </a:rPr>
              <a:t>Proses komunikasi komputer dipecah ke dalam jutaan bingkai paket jaringan yang mencatat alamat IP pengirim, penerima, port, dan payload.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Protokol Teks Biasa (Clear-Text): </a:t>
            </a:r>
            <a:r>
              <a:rPr b="0" sz="1200">
                <a:solidFill>
                  <a:srgbClr val="8B949E"/>
                </a:solidFill>
                <a:latin typeface="Calibri"/>
              </a:rPr>
              <a:t>Protokol seperti HTTP mentransmisikan data teks polos tanpa enkripsi TLS/SSL. Isi percakapan dapat dibaca langsung oleh pihak yang memonitor jaringan.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Rekonstruksi Aliran Sesi (Streams): </a:t>
            </a:r>
            <a:r>
              <a:rPr b="0" sz="1200">
                <a:solidFill>
                  <a:srgbClr val="8B949E"/>
                </a:solidFill>
                <a:latin typeface="Calibri"/>
              </a:rPr>
              <a:t>Paket yang terpecah dalam transmisi TCP dapat digabungkan kembali secara utuh untuk melihat file atau request yang diunduh pengguna.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Alat Utama: </a:t>
            </a:r>
            <a:r>
              <a:rPr b="0" sz="1200">
                <a:solidFill>
                  <a:srgbClr val="8B949E"/>
                </a:solidFill>
                <a:latin typeface="Calibri"/>
              </a:rPr>
              <a:t>Hex Editor (HxD / HexEd.it), ExifTool, 7-Zip, dan Wireshark.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00E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00E699"/>
                </a:solidFill>
                <a:latin typeface="Trebuchet MS"/>
              </a:defRPr>
            </a:pPr>
            <a:r>
              <a:t>DIGITAL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Trebuchet MS"/>
              </a:defRPr>
            </a:pPr>
            <a:r>
              <a:t>Kisi-Kisi Topik 1 &amp; 2: Metadata Citra &amp; Reparasi Magic Bytes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6984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E699"/>
                </a:solidFill>
                <a:latin typeface="Trebuchet MS"/>
              </a:defRPr>
            </a:pPr>
            <a:r>
              <a:t>📷 Topik 1: Eksplorasi Metadata Berkas Citra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TINGKAT DASAR | 100 POIN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Konsep yang Diuji: </a:t>
            </a:r>
            <a:r>
              <a:rPr b="0" sz="1200">
                <a:solidFill>
                  <a:srgbClr val="8B949E"/>
                </a:solidFill>
                <a:latin typeface="Calibri"/>
              </a:rPr>
              <a:t>Penyimpanan metadata Exchangeable Image File Format (EXIF) dan tag komentar teks di dalam kontainer berkas grafis.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Kompetensi Peserta: </a:t>
            </a:r>
            <a:r>
              <a:rPr b="0" sz="1200">
                <a:solidFill>
                  <a:srgbClr val="8B949E"/>
                </a:solidFill>
                <a:latin typeface="Calibri"/>
              </a:rPr>
              <a:t>Mampu mengekstraksi atribut informasi non-visual yang tertanam di dalam berkas gambar digital.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Kata Kunci Penyelidikan: </a:t>
            </a:r>
            <a:r>
              <a:rPr b="0" sz="1200">
                <a:solidFill>
                  <a:srgbClr val="8B949E"/>
                </a:solidFill>
                <a:latin typeface="Calibri"/>
              </a:rPr>
              <a:t>EXIF Specification, Metadata Extraction, UserComment / XPComment, File Properties, Strings Command.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Arah Belajar Mandiri: </a:t>
            </a:r>
            <a:r>
              <a:rPr b="0" sz="1200">
                <a:solidFill>
                  <a:srgbClr val="8B949E"/>
                </a:solidFill>
                <a:latin typeface="Calibri"/>
              </a:rPr>
              <a:t>Pelajari cara membaca tab Details pada Properties file di Windows, perintah CLI strings, atau penggunaan ExifTool.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E699"/>
                </a:solidFill>
                <a:latin typeface="Trebuchet MS"/>
              </a:defRPr>
            </a:pPr>
            <a:r>
              <a:t>🩹 Topik 2: Integritas Struktur Biner (Magic Bytes)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TINGKAT DASAR | 150 POIN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Konsep yang Diuji: </a:t>
            </a:r>
            <a:r>
              <a:rPr b="0" sz="1200">
                <a:solidFill>
                  <a:srgbClr val="8B949E"/>
                </a:solidFill>
                <a:latin typeface="Calibri"/>
              </a:rPr>
              <a:t>Kerusakan struktur tanda tangan berkas biner pada 8-byte pertama berkas grafis standar (format PNG).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Kompetensi Peserta: </a:t>
            </a:r>
            <a:r>
              <a:rPr b="0" sz="1200">
                <a:solidFill>
                  <a:srgbClr val="8B949E"/>
                </a:solidFill>
                <a:latin typeface="Calibri"/>
              </a:rPr>
              <a:t>Mampu menggunakan Hex Editor untuk membaca susunan byte mentah, mengidentifikasi kerusakan, dan menambal (patching) byte yang hilang.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Kata Kunci Penyelidikan: </a:t>
            </a:r>
            <a:r>
              <a:rPr b="0" sz="1200">
                <a:solidFill>
                  <a:srgbClr val="8B949E"/>
                </a:solidFill>
                <a:latin typeface="Calibri"/>
              </a:rPr>
              <a:t>Magic Bytes, File Signature, Header Corruption, PNG Header Standard, Hex Editor Patching.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Arah Belajar Mandiri: </a:t>
            </a:r>
            <a:r>
              <a:rPr b="0" sz="1200">
                <a:solidFill>
                  <a:srgbClr val="8B949E"/>
                </a:solidFill>
                <a:latin typeface="Calibri"/>
              </a:rPr>
              <a:t>Pelajari standar magic bytes file PNG (89 50 4E 47 0D 0A 1A 0A), cara membuka berkas di HxD / hexed.it, dan menyimpan byte perbaikan.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00E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00E699"/>
                </a:solidFill>
                <a:latin typeface="Trebuchet MS"/>
              </a:defRPr>
            </a:pPr>
            <a:r>
              <a:t>DIGITAL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Trebuchet MS"/>
              </a:defRPr>
            </a:pPr>
            <a:r>
              <a:t>Kisi-Kisi Topik 3 &amp; 4: Steganografi EOF &amp; Analisis Trafik PCAP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6984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E699"/>
                </a:solidFill>
                <a:latin typeface="Trebuchet MS"/>
              </a:defRPr>
            </a:pPr>
            <a:r>
              <a:t>📦 Topik 3: Steganografi Penanda Akhir Berkas (EOF)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TINGKAT MENENGAH | 200 POIN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Konsep yang Diuji: </a:t>
            </a:r>
            <a:r>
              <a:rPr b="0" sz="1200">
                <a:solidFill>
                  <a:srgbClr val="8B949E"/>
                </a:solidFill>
                <a:latin typeface="Calibri"/>
              </a:rPr>
              <a:t>Penyembunyian kontainer berkas sekunder (seperti arsip ZIP) di balik penanda batas akhir berkas (End of File) citra JPEG.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Kompetensi Peserta: </a:t>
            </a:r>
            <a:r>
              <a:rPr b="0" sz="1200">
                <a:solidFill>
                  <a:srgbClr val="8B949E"/>
                </a:solidFill>
                <a:latin typeface="Calibri"/>
              </a:rPr>
              <a:t>Mampu mendeteksi anomali struktur berkas di luar penanda EOF (FF D9) dan mengekstraksi arsip tersembunyi.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Kata Kunci Penyelidikan: </a:t>
            </a:r>
            <a:r>
              <a:rPr b="0" sz="1200">
                <a:solidFill>
                  <a:srgbClr val="8B949E"/>
                </a:solidFill>
                <a:latin typeface="Calibri"/>
              </a:rPr>
              <a:t>End of File (EOF), JPEG EOF Marker (FF D9), Appended File Steganography, File Carving, Secondary Archive.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Arah Belajar Mandiri: </a:t>
            </a:r>
            <a:r>
              <a:rPr b="0" sz="1200">
                <a:solidFill>
                  <a:srgbClr val="8B949E"/>
                </a:solidFill>
                <a:latin typeface="Calibri"/>
              </a:rPr>
              <a:t>Pelajari cara kerja penanda EOF format JPEG, teknik membuka file gambar menggunakan aplikasi pengarsip (7-Zip / WinRAR), atau tool binwalk.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E699"/>
                </a:solidFill>
                <a:latin typeface="Trebuchet MS"/>
              </a:defRPr>
            </a:pPr>
            <a:r>
              <a:t>🦈 Topik 4: Analisis Lalu Lintas Jaringan (PCAP)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TINGKAT MENENGAH | 250 POIN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Konsep yang Diuji: </a:t>
            </a:r>
            <a:r>
              <a:rPr b="0" sz="1200">
                <a:solidFill>
                  <a:srgbClr val="8B949E"/>
                </a:solidFill>
                <a:latin typeface="Calibri"/>
              </a:rPr>
              <a:t>Investigasi penyadapan paket jaringan mentah untuk menganalisis transmisi data protokol teks polos (HTTP).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Kompetensi Peserta: </a:t>
            </a:r>
            <a:r>
              <a:rPr b="0" sz="1200">
                <a:solidFill>
                  <a:srgbClr val="8B949E"/>
                </a:solidFill>
                <a:latin typeface="Calibri"/>
              </a:rPr>
              <a:t>Mampu memfilter protokol jaringan tertentu di antara ribuan paket lalu lintas dan merekonstruksi aliran sesi komunikasi (TCP Stream Reassembly).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Kata Kunci Penyelidikan: </a:t>
            </a:r>
            <a:r>
              <a:rPr b="0" sz="1200">
                <a:solidFill>
                  <a:srgbClr val="8B949E"/>
                </a:solidFill>
                <a:latin typeface="Calibri"/>
              </a:rPr>
              <a:t>Packet Capture (PCAP), Display Filtering, HTTP Payload, TCP Stream Reassembly, Wireshark Follow Stream.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Arah Belajar Mandiri: </a:t>
            </a:r>
            <a:r>
              <a:rPr b="0" sz="1200">
                <a:solidFill>
                  <a:srgbClr val="8B949E"/>
                </a:solidFill>
                <a:latin typeface="Calibri"/>
              </a:rPr>
              <a:t>Pelajari penggunaan filter display 'http' di Wireshark, fitur 'Follow -&gt; TCP Stream', dan membaca header serta body transaksi HTTP.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00E5FF"/>
                </a:solidFill>
                <a:latin typeface="Trebuchet MS"/>
              </a:defRPr>
            </a:pPr>
            <a:r>
              <a:t>PERSIAPAN PESERTA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Trebuchet MS"/>
              </a:defRPr>
            </a:pPr>
            <a:r>
              <a:t>Matriks Kesiapan Perangkat Lunak (Tools Checklist)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6984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71216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E5FF"/>
                </a:solidFill>
                <a:latin typeface="Trebuchet MS"/>
              </a:defRPr>
            </a:pPr>
            <a:r>
              <a:t>🌐 Perangkat Web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KOMPONEN WEB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Browser Developer Tools: </a:t>
            </a:r>
            <a:r>
              <a:rPr b="0" sz="1200">
                <a:solidFill>
                  <a:srgbClr val="8B949E"/>
                </a:solidFill>
                <a:latin typeface="Calibri"/>
              </a:rPr>
              <a:t>Chrome / Firefox / Edge (F12) untuk inspeksi DOM, network response headers, dan cookie.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cURL / Postman / ReqBin: </a:t>
            </a:r>
            <a:r>
              <a:rPr b="0" sz="1200">
                <a:solidFill>
                  <a:srgbClr val="8B949E"/>
                </a:solidFill>
                <a:latin typeface="Calibri"/>
              </a:rPr>
              <a:t>Pengujian request HTTP kustom dan verifikasi respon endpoint secara fleksibel.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Proxy Opsional: </a:t>
            </a:r>
            <a:r>
              <a:rPr b="0" sz="1200">
                <a:solidFill>
                  <a:srgbClr val="8B949E"/>
                </a:solidFill>
                <a:latin typeface="Calibri"/>
              </a:rPr>
              <a:t>Burp Suite Community Edition (opsional untuk analisis lalu lintas web interaktif).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828800"/>
            <a:ext cx="2871216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Trebuchet MS"/>
              </a:defRPr>
            </a:pPr>
            <a:r>
              <a:t>🔐 Perangkat Kriptografi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KOMPONEN KRIPTO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CyberChef (GCHQ): </a:t>
            </a:r>
            <a:r>
              <a:rPr b="0" sz="1200">
                <a:solidFill>
                  <a:srgbClr val="8B949E"/>
                </a:solidFill>
                <a:latin typeface="Calibri"/>
              </a:rPr>
              <a:t>Aplikasi web serbaguna untuk ROT13, Base64, Hex decoding, dan XOR Brute Force.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Python 3: </a:t>
            </a:r>
            <a:r>
              <a:rPr b="0" sz="1200">
                <a:solidFill>
                  <a:srgbClr val="8B949E"/>
                </a:solidFill>
                <a:latin typeface="Calibri"/>
              </a:rPr>
              <a:t>Scripting otomatis untuk kalkulasi bitwise, manipulasi string, dan modulo.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dcode.fr: </a:t>
            </a:r>
            <a:r>
              <a:rPr b="0" sz="1200">
                <a:solidFill>
                  <a:srgbClr val="8B949E"/>
                </a:solidFill>
                <a:latin typeface="Calibri"/>
              </a:rPr>
              <a:t>Referensi online pengenal cipher klasik dan pemecah sandi substitusi/Vigenère.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828800"/>
            <a:ext cx="2871216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0E699"/>
                </a:solidFill>
                <a:latin typeface="Trebuchet MS"/>
              </a:defRPr>
            </a:pPr>
            <a:r>
              <a:t>🔍 Perangkat Forensik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KOMPONEN FORENSIK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HxD / HexEd.it: </a:t>
            </a:r>
            <a:r>
              <a:rPr b="0" sz="1200">
                <a:solidFill>
                  <a:srgbClr val="8B949E"/>
                </a:solidFill>
                <a:latin typeface="Calibri"/>
              </a:rPr>
              <a:t>Editor heksadesimal untuk membaca biner mentah dan memperbaiki byte rusak.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7-Zip / WinRAR: </a:t>
            </a:r>
            <a:r>
              <a:rPr b="0" sz="1200">
                <a:solidFill>
                  <a:srgbClr val="8B949E"/>
                </a:solidFill>
                <a:latin typeface="Calibri"/>
              </a:rPr>
              <a:t>Pengarsip berkas untuk mendeteksi kontainer ZIP di balik steganografi citra.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ExifTool / File Details: </a:t>
            </a:r>
            <a:r>
              <a:rPr b="0" sz="1200">
                <a:solidFill>
                  <a:srgbClr val="8B949E"/>
                </a:solidFill>
                <a:latin typeface="Calibri"/>
              </a:rPr>
              <a:t>Pembaca metadata EXIF dan komentar tak kasat mata.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Wireshark: </a:t>
            </a:r>
            <a:r>
              <a:rPr b="0" sz="1200">
                <a:solidFill>
                  <a:srgbClr val="8B949E"/>
                </a:solidFill>
                <a:latin typeface="Calibri"/>
              </a:rPr>
              <a:t>Penganalisis paket jaringan dan rekonstruksi TCP stream.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161B22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00E5FF"/>
                </a:solidFill>
                <a:latin typeface="Trebuchet MS"/>
              </a:defRPr>
            </a:pPr>
            <a:r>
              <a:t>STRATEGI BERTANDING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0F6FC"/>
                </a:solidFill>
                <a:latin typeface="Trebuchet MS"/>
              </a:defRPr>
            </a:pPr>
            <a:r>
              <a:t>Panduan Efektivitas &amp; Rekomendasi Alokasi Waktu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69848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F5A623"/>
                </a:solidFill>
                <a:latin typeface="Trebuchet MS"/>
              </a:defRPr>
            </a:pPr>
            <a:r>
              <a:t>⏱️ Rekomendasi Manajemen Waktu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MANAJEMEN WAKTU IDEAL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Fase 1: Tinjauan Awal (15 Menit): </a:t>
            </a:r>
            <a:r>
              <a:rPr b="0" sz="1200">
                <a:solidFill>
                  <a:srgbClr val="8B949E"/>
                </a:solidFill>
                <a:latin typeface="Calibri"/>
              </a:rPr>
              <a:t>Buka dan baca deskripsi seluruh 12 tantangan. Tandai soal-soal yang langsung Anda kenali konsep dasarnya.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Fase 2: Target Mudah Pertama (45 Menit): </a:t>
            </a:r>
            <a:r>
              <a:rPr b="0" sz="1200">
                <a:solidFill>
                  <a:srgbClr val="8B949E"/>
                </a:solidFill>
                <a:latin typeface="Calibri"/>
              </a:rPr>
              <a:t>Selesaikan soal 100 poin di tiap kategori (Web 1, Crypto 1, Forensics 1) untuk membangun kepercayaan diri dan mengamankan poin awal.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Fase 3: Tantangan Menengah (60-90 Menit): </a:t>
            </a:r>
            <a:r>
              <a:rPr b="0" sz="1200">
                <a:solidFill>
                  <a:srgbClr val="8B949E"/>
                </a:solidFill>
                <a:latin typeface="Calibri"/>
              </a:rPr>
              <a:t>Kerjakan soal 150 - 200 poin secara sistematis. Manfaatkan tools seperti CyberChef dan Wireshark secara optimal.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Fase 4: Tantangan Bobot Tinggi (Sisa Waktu): </a:t>
            </a:r>
            <a:r>
              <a:rPr b="0" sz="1200">
                <a:solidFill>
                  <a:srgbClr val="8B949E"/>
                </a:solidFill>
                <a:latin typeface="Calibri"/>
              </a:rPr>
              <a:t>Fokus pada tantangan 250 poin yang membutuhkan pemikiran logika analitis lebih mendalam.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45920"/>
            <a:ext cx="5166360" cy="4572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828800"/>
            <a:ext cx="4709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Trebuchet MS"/>
              </a:defRPr>
            </a:pPr>
            <a:r>
              <a:t>💡 Tips Menghindari Kesalahan Umum</a:t>
            </a:r>
          </a:p>
          <a:p>
            <a:pPr>
              <a:spcAft>
                <a:spcPts val="800"/>
              </a:spcAft>
              <a:defRPr sz="1100" b="1">
                <a:solidFill>
                  <a:srgbClr val="F5A623"/>
                </a:solidFill>
                <a:latin typeface="Calibri"/>
              </a:defRPr>
            </a:pPr>
            <a:r>
              <a:t>TIPS INVESTIGASI EFEKTIF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Jangan Berspekulasi Liar: </a:t>
            </a:r>
            <a:r>
              <a:rPr b="0" sz="1200">
                <a:solidFill>
                  <a:srgbClr val="8B949E"/>
                </a:solidFill>
                <a:latin typeface="Calibri"/>
              </a:rPr>
              <a:t>Tantangan CTF dirancang memiliki petunjuk rasional. Jika terjebak pada tebak-tebakan acak, berhentilah sejenak dan baca ulang clue.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Jaga Format Flag: </a:t>
            </a:r>
            <a:r>
              <a:rPr b="0" sz="1200">
                <a:solidFill>
                  <a:srgbClr val="8B949E"/>
                </a:solidFill>
                <a:latin typeface="Calibri"/>
              </a:rPr>
              <a:t>Pastikan tidak ada karakter terpotong atau spasi tambahan saat menyalin flag.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Gunakan Berkas Salinan: </a:t>
            </a:r>
            <a:r>
              <a:rPr b="0" sz="1200">
                <a:solidFill>
                  <a:srgbClr val="8B949E"/>
                </a:solidFill>
                <a:latin typeface="Calibri"/>
              </a:rPr>
              <a:t>Saat memperbaiki byte berkas forensik, selalu buat salinan cadangan agar berkas asli tidak rusak permanen.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0F6FC"/>
                </a:solidFill>
                <a:latin typeface="Calibri"/>
              </a:rPr>
              <a:t>• Kolaborasi Mental: </a:t>
            </a:r>
            <a:r>
              <a:rPr b="0" sz="1200">
                <a:solidFill>
                  <a:srgbClr val="8B949E"/>
                </a:solidFill>
                <a:latin typeface="Calibri"/>
              </a:rPr>
              <a:t>Pikirkan bagaimana developer sistem membangun fitur tersebut, lalu identifikasi asumsi keliru yang mereka buat.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5752" cy="41148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3200" b="1">
                <a:solidFill>
                  <a:srgbClr val="00E5FF"/>
                </a:solidFill>
                <a:latin typeface="Trebuchet MS"/>
              </a:defRPr>
            </a:pPr>
            <a:r>
              <a:t>SELAMAT MENGIKUTI KOMPETISI!</a:t>
            </a:r>
          </a:p>
          <a:p>
            <a:pPr algn="ctr">
              <a:spcAft>
                <a:spcPts val="2400"/>
              </a:spcAft>
              <a:defRPr sz="1800">
                <a:solidFill>
                  <a:srgbClr val="F0F6FC"/>
                </a:solidFill>
                <a:latin typeface="Calibri"/>
              </a:defRPr>
            </a:pPr>
            <a:r>
              <a:t>CyberStrike CTF 2026: Mengasah Ketajaman Logika &amp; Integritas Keamanan Siber</a:t>
            </a:r>
          </a:p>
          <a:p>
            <a:pPr algn="ctr">
              <a:spcAft>
                <a:spcPts val="28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Ingatlah bahwa setiap tantangan keamanan siber adalah sebuah teka-teki logika.</a:t>
            </a:r>
            <a:br/>
            <a:r>
              <a:t>Fokuslah pada prinsip kerja teknologi di balik layar, amati anomali data, dan jangan ragu untuk bereksplorasi!</a:t>
            </a:r>
          </a:p>
          <a:p>
            <a:pPr algn="ctr">
              <a:defRPr sz="1400" b="1">
                <a:solidFill>
                  <a:srgbClr val="00E699"/>
                </a:solidFill>
                <a:latin typeface="Trebuchet MS"/>
              </a:defRPr>
            </a:pPr>
            <a:r>
              <a:t>🌐 Tautan Web Kompetisi: https://amy-walt-cricket-hierarchy.trycloudflare.com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